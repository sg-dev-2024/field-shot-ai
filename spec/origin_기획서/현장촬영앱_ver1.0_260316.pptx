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6" r:id="rId5"/>
    <p:sldId id="257" r:id="rId6"/>
    <p:sldId id="260" r:id="rId7"/>
    <p:sldId id="261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" id="{5280C895-CA02-42DA-922F-DFC4DB913A76}">
          <p14:sldIdLst>
            <p14:sldId id="256"/>
            <p14:sldId id="258"/>
            <p14:sldId id="259"/>
          </p14:sldIdLst>
        </p14:section>
        <p14:section name="본문" id="{24B80554-C13C-4103-B77B-DB34449D4981}">
          <p14:sldIdLst>
            <p14:sldId id="266"/>
            <p14:sldId id="257"/>
            <p14:sldId id="260"/>
            <p14:sldId id="261"/>
            <p14:sldId id="263"/>
            <p14:sldId id="265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D3469-5EBA-4E02-BD5F-1940EC58BE1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8EB81-756B-40B8-904B-38F8DB893D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78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8EB81-756B-40B8-904B-38F8DB893D6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9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7AE058-FDCF-6372-3301-6C65CF2D6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879CFF-B23C-9DB0-7798-572F44C5F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B13E30-2AC8-3B8B-FDE7-B7CB444D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4B093C-2220-C8F3-81C3-4461EDF8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72495-56EC-BB10-CCA6-8099BFA6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92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DF45A-E4CC-95B0-432A-D4A59487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8C5600-F4A6-7258-C77D-865A7B953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12F7E-B63E-6CA1-DC09-88C03DE2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4E122C-D834-15CC-3496-404D4481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4530E8-62C2-ABE7-FDE6-F68F0948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21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1158C-3065-DFDB-06A5-A031BC42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5829F2-0E6F-8A99-AB6D-40D850677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62BB4-98F6-8F5B-32FB-321CDF19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F5E55A-6A16-A94E-38F0-DF44DD35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C1E43-0859-EBA4-AD8D-37E3FD15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83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935D4-FC1A-8BD4-0300-BD2C2456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C8A690-3BA2-24E1-119D-6AE08352C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FEED2A-D588-34C0-BA38-E3DD4098A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23CB47-882A-53E8-CCF3-F0B6BAD4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C4B46F-F790-60AB-C4C5-714544AB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2A24D-095F-ADE7-C497-9975770F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79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2F51B-1A67-ECE9-31E6-7DA138A1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3E6C9B-6CE7-22D7-E866-84669DCBC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EED716-E290-EED7-B876-6C5E5BBB3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4EE6A7-5068-741E-B5F1-CD3B60851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69D257-C3CD-D02D-234D-58B2C8F16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666C8B-4EE0-3620-0EE8-678879DE8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3C02A9-AF16-4A35-4475-154E8BC2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77C3E4-3A2E-D5DF-A0D8-DCF72DED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84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E8810-61AF-BA7E-6F6C-428BEDF53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FFA78F-E739-3356-9314-61A4AF9C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6BB1A2-8B7B-81E1-9DA7-4C2F3C5F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C00ABA-7C70-B7E6-63D9-61B46049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38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BF1AEC-13AB-EF55-0789-CD1B2F38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D5D2A0-781E-5777-3D6F-E3601184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586CE7-59CA-44E5-7C6A-7606BEA1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94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9D8CB-2E1D-F71B-4827-33921659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9C9FD2-21DD-0B88-6FA8-A43C7416A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415488-E7F2-128A-1E7D-065A5C847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F86A5E-A36C-EF38-5FFF-3CDF45C1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E1062C-603F-7134-8FC1-37E6F387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F10412-AC1E-B6A5-D95F-B7CD40F2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34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EA8E1-E747-4756-E3B0-11C113157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68BE22-E3E9-365E-927E-3D38728F1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3FC7F7-EFC5-A13A-3B88-DAACAB9BB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EA419C-22E7-2694-D96C-3CFE5F75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179902-EDE4-D779-2EBD-B70D3FF6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4236C5-630B-CA78-404C-F6827652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BA5E6-3E26-0C61-75F6-D5F0F6A0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07B02F-DA9F-E400-B4BC-5E3919740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FB0EF-8D56-2154-7DA1-44BF0186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F60AAF-0C80-2EF8-E7AF-184CB28A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9AD447-9E66-1F95-C060-F23EE26B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20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502EAF-A661-28D7-A674-1778EA7BF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ABDDB0-126C-B36F-ED7D-545B4D59A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7EA534-3DA2-1330-8850-D0E2CC9DA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736DEA-37B8-8362-0369-A757D32F8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0EE35-FA93-C3BB-7EF4-3526FF9C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06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23854B-BEE2-89C6-56E5-973917A8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455DC9-B4B2-79AF-0AC9-81A6EADA2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04E960-99BA-64B1-E31D-3D7320F74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746ED-8B70-4C23-B71F-099A4A6C99E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8336C0-D050-CABA-FE6D-13821FD75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FE354-0F8B-27DC-46DB-894DEA8BA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8C0E6-F3F0-4918-9128-1A2F42278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56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EDCEF011-80A4-144B-ED7A-BF804D412CEF}"/>
              </a:ext>
            </a:extLst>
          </p:cNvPr>
          <p:cNvSpPr/>
          <p:nvPr/>
        </p:nvSpPr>
        <p:spPr>
          <a:xfrm>
            <a:off x="548640" y="2267712"/>
            <a:ext cx="164592" cy="329184"/>
          </a:xfrm>
          <a:prstGeom prst="rect">
            <a:avLst/>
          </a:prstGeom>
          <a:solidFill>
            <a:srgbClr val="D93434"/>
          </a:solidFill>
          <a:ln w="12700">
            <a:solidFill>
              <a:srgbClr val="D93434"/>
            </a:solidFill>
            <a:prstDash val="solid"/>
          </a:ln>
        </p:spPr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A55E96D-D69F-573F-E55B-57891E8826F9}"/>
              </a:ext>
            </a:extLst>
          </p:cNvPr>
          <p:cNvSpPr/>
          <p:nvPr/>
        </p:nvSpPr>
        <p:spPr>
          <a:xfrm>
            <a:off x="548640" y="3246120"/>
            <a:ext cx="5394960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80795FA-269D-A499-7987-8AFC87E477ED}"/>
              </a:ext>
            </a:extLst>
          </p:cNvPr>
          <p:cNvSpPr/>
          <p:nvPr/>
        </p:nvSpPr>
        <p:spPr>
          <a:xfrm>
            <a:off x="9907763" y="6089716"/>
            <a:ext cx="2011680" cy="20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</a:t>
            </a:r>
            <a:r>
              <a:rPr lang="en-US" altLang="ko-KR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배한익</a:t>
            </a:r>
            <a:endParaRPr lang="en-US" altLang="ko-KR" sz="800" dirty="0">
              <a:solidFill>
                <a:srgbClr val="666666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2AA2AB0D-C145-F8FB-796F-01DF7482D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550" y="2238314"/>
            <a:ext cx="5913748" cy="406835"/>
          </a:xfrm>
        </p:spPr>
        <p:txBody>
          <a:bodyPr anchor="ctr">
            <a:normAutofit/>
          </a:bodyPr>
          <a:lstStyle/>
          <a:p>
            <a:pPr algn="l"/>
            <a:r>
              <a:rPr lang="en-US" altLang="ko-KR" sz="1700" dirty="0"/>
              <a:t>AI </a:t>
            </a:r>
            <a:r>
              <a:rPr lang="ko-KR" altLang="en-US" sz="1700" dirty="0"/>
              <a:t>데이터 수집용 촬영 앱</a:t>
            </a:r>
          </a:p>
        </p:txBody>
      </p:sp>
      <p:sp>
        <p:nvSpPr>
          <p:cNvPr id="10" name="부제목 9">
            <a:extLst>
              <a:ext uri="{FF2B5EF4-FFF2-40B4-BE49-F238E27FC236}">
                <a16:creationId xmlns:a16="http://schemas.microsoft.com/office/drawing/2014/main" id="{CCB58E7A-DE7D-B21D-3C86-5E1D3D62A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550" y="2820177"/>
            <a:ext cx="1567992" cy="202662"/>
          </a:xfrm>
        </p:spPr>
        <p:txBody>
          <a:bodyPr>
            <a:normAutofit/>
          </a:bodyPr>
          <a:lstStyle/>
          <a:p>
            <a:pPr algn="l"/>
            <a:r>
              <a:rPr lang="en-US" altLang="ko-KR" sz="750" dirty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sz="750" dirty="0">
                <a:solidFill>
                  <a:schemeClr val="bg1">
                    <a:lumMod val="65000"/>
                  </a:schemeClr>
                </a:solidFill>
              </a:rPr>
              <a:t>화면설계서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F540056F-555D-5B25-6C95-E8728DB82C40}"/>
              </a:ext>
            </a:extLst>
          </p:cNvPr>
          <p:cNvSpPr/>
          <p:nvPr/>
        </p:nvSpPr>
        <p:spPr>
          <a:xfrm>
            <a:off x="9907763" y="6292379"/>
            <a:ext cx="2011680" cy="20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2026.03.16</a:t>
            </a:r>
          </a:p>
        </p:txBody>
      </p:sp>
    </p:spTree>
    <p:extLst>
      <p:ext uri="{BB962C8B-B14F-4D97-AF65-F5344CB8AC3E}">
        <p14:creationId xmlns:p14="http://schemas.microsoft.com/office/powerpoint/2010/main" val="19293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814DB73-FF61-2627-0994-96FE6372A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546" y="2619905"/>
            <a:ext cx="4459641" cy="620839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 sz="1600" b="1" dirty="0"/>
              <a:t>요구 사항 정의서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AFED3E6-B5B1-508E-A833-5FA44E729A15}"/>
              </a:ext>
            </a:extLst>
          </p:cNvPr>
          <p:cNvSpPr/>
          <p:nvPr/>
        </p:nvSpPr>
        <p:spPr>
          <a:xfrm>
            <a:off x="4297680" y="3246120"/>
            <a:ext cx="3566160" cy="0"/>
          </a:xfrm>
          <a:prstGeom prst="line">
            <a:avLst/>
          </a:prstGeom>
          <a:noFill/>
          <a:ln w="12700">
            <a:solidFill>
              <a:srgbClr val="D93434"/>
            </a:solidFill>
            <a:prstDash val="solid"/>
          </a:ln>
        </p:spPr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B803035-0659-5481-9FE3-4A6233B1F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1546" y="3688487"/>
            <a:ext cx="4459641" cy="326484"/>
          </a:xfrm>
        </p:spPr>
        <p:txBody>
          <a:bodyPr anchor="ctr">
            <a:normAutofit/>
          </a:bodyPr>
          <a:lstStyle/>
          <a:p>
            <a:pPr algn="ctr"/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42671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12EC-63C4-EBB2-4FF2-19D1B02F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125436A9-BE51-6FC7-CF4A-F05E479B54F8}"/>
              </a:ext>
            </a:extLst>
          </p:cNvPr>
          <p:cNvSpPr/>
          <p:nvPr/>
        </p:nvSpPr>
        <p:spPr>
          <a:xfrm>
            <a:off x="658368" y="677050"/>
            <a:ext cx="7745878" cy="1742300"/>
          </a:xfrm>
          <a:prstGeom prst="rect">
            <a:avLst/>
          </a:prstGeom>
          <a:solidFill>
            <a:srgbClr val="F7F7F7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71D60-786A-4AAE-3D3A-07092CD82021}"/>
              </a:ext>
            </a:extLst>
          </p:cNvPr>
          <p:cNvSpPr txBox="1"/>
          <p:nvPr/>
        </p:nvSpPr>
        <p:spPr>
          <a:xfrm>
            <a:off x="658368" y="314325"/>
            <a:ext cx="2543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프로젝트 개요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ED04439-E485-0089-FDB8-85C9158EA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65907"/>
            <a:ext cx="7566046" cy="1512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목적: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넥스톰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모델(수치/OCR) 학습을 위한 고품질 현장 데이터 수집 파이프라인 구축 및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라벨링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비용 절감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타겟 디바이스: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현장 작업자의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개인 스마트폰 (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전용)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v1 핵심 타겟: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주요 구조부재(기둥, 보)의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'탄산화 조사 (디지털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버니어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캘리퍼스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수치 인식)'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데이터 수집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운영 환경: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지하 등 통신 불안정 환경을 고려한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오프라인 우선 저장 및 수동 일괄 전송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방식</a:t>
            </a:r>
            <a:r>
              <a:rPr lang="ko-KR" altLang="en-US" sz="1200" dirty="0">
                <a:latin typeface="Arial" panose="020B0604020202020204" pitchFamily="34" charset="0"/>
              </a:rPr>
              <a:t>으로 채택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A5726452-95A1-3E2B-4C7B-AAA52AB850D6}"/>
              </a:ext>
            </a:extLst>
          </p:cNvPr>
          <p:cNvSpPr/>
          <p:nvPr/>
        </p:nvSpPr>
        <p:spPr>
          <a:xfrm>
            <a:off x="658368" y="3514725"/>
            <a:ext cx="7745878" cy="2666225"/>
          </a:xfrm>
          <a:prstGeom prst="rect">
            <a:avLst/>
          </a:prstGeom>
          <a:solidFill>
            <a:srgbClr val="F7F7F7"/>
          </a:solidFill>
          <a:ln w="12700">
            <a:solidFill>
              <a:srgbClr val="DCDCDC"/>
            </a:solidFill>
            <a:prstDash val="solid"/>
          </a:ln>
        </p:spPr>
        <p:txBody>
          <a:bodyPr anchor="ctr"/>
          <a:lstStyle/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10B362-A69D-8F70-4522-5F2AE4C7C50B}"/>
              </a:ext>
            </a:extLst>
          </p:cNvPr>
          <p:cNvSpPr txBox="1"/>
          <p:nvPr/>
        </p:nvSpPr>
        <p:spPr>
          <a:xfrm>
            <a:off x="658368" y="3152001"/>
            <a:ext cx="2543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2. </a:t>
            </a:r>
            <a:r>
              <a:rPr lang="ko-KR" altLang="en-US" sz="1400" b="1" dirty="0"/>
              <a:t>유저 플로우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C883D70-4F89-51B6-1C62-04D6919FFA8D}"/>
              </a:ext>
            </a:extLst>
          </p:cNvPr>
          <p:cNvGrpSpPr/>
          <p:nvPr/>
        </p:nvGrpSpPr>
        <p:grpSpPr>
          <a:xfrm>
            <a:off x="838200" y="3590152"/>
            <a:ext cx="6125395" cy="2319994"/>
            <a:chOff x="838200" y="3647302"/>
            <a:chExt cx="6125395" cy="2319994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930CBF4E-2BEF-4B6D-DF49-C5FE67168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3647302"/>
              <a:ext cx="6125395" cy="23199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latinLnBrk="0" hangingPunct="0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 b="1" dirty="0">
                  <a:latin typeface="Arial" panose="020B0604020202020204" pitchFamily="34" charset="0"/>
                </a:rPr>
                <a:t>[조사 선택]</a:t>
              </a:r>
              <a:r>
                <a:rPr lang="ko-KR" altLang="ko-KR" sz="1200" dirty="0">
                  <a:latin typeface="Arial" panose="020B0604020202020204" pitchFamily="34" charset="0"/>
                </a:rPr>
                <a:t> 홈 화면에서 '탄산화 조사' 선택</a:t>
              </a:r>
            </a:p>
            <a:p>
              <a:pPr lvl="0" eaLnBrk="0" fontAlgn="base" latinLnBrk="0" hangingPunct="0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 b="1" dirty="0">
                  <a:latin typeface="Arial" panose="020B0604020202020204" pitchFamily="34" charset="0"/>
                </a:rPr>
                <a:t>[조건/가이드 촬영]</a:t>
              </a:r>
              <a:r>
                <a:rPr lang="ko-KR" altLang="ko-KR" sz="1200" dirty="0">
                  <a:latin typeface="Arial" panose="020B0604020202020204" pitchFamily="34" charset="0"/>
                </a:rPr>
                <a:t> 수평, 조도, 가이드 박스를 준수하여 </a:t>
              </a:r>
              <a:r>
                <a:rPr lang="ko-KR" altLang="ko-KR" sz="1200" dirty="0" err="1">
                  <a:latin typeface="Arial" panose="020B0604020202020204" pitchFamily="34" charset="0"/>
                </a:rPr>
                <a:t>캘리퍼스</a:t>
              </a:r>
              <a:r>
                <a:rPr lang="ko-KR" altLang="ko-KR" sz="1200" dirty="0">
                  <a:latin typeface="Arial" panose="020B0604020202020204" pitchFamily="34" charset="0"/>
                </a:rPr>
                <a:t> 액정 촬영 (2x 줌 기본)</a:t>
              </a:r>
            </a:p>
            <a:p>
              <a:pPr lvl="0" eaLnBrk="0" fontAlgn="base" latinLnBrk="0" hangingPunct="0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 b="1" dirty="0">
                  <a:latin typeface="Arial" panose="020B0604020202020204" pitchFamily="34" charset="0"/>
                </a:rPr>
                <a:t>[정답 입력]</a:t>
              </a:r>
              <a:r>
                <a:rPr lang="ko-KR" altLang="ko-KR" sz="1200" dirty="0">
                  <a:latin typeface="Arial" panose="020B0604020202020204" pitchFamily="34" charset="0"/>
                </a:rPr>
                <a:t> 촬영 직후, 작업자가 액정 수치(정답 데이터) 및 비고 직접 입력 후 로컬 저장</a:t>
              </a:r>
            </a:p>
            <a:p>
              <a:pPr lvl="0" eaLnBrk="0" fontAlgn="base" latinLnBrk="0" hangingPunct="0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 b="1" dirty="0">
                  <a:latin typeface="Arial" panose="020B0604020202020204" pitchFamily="34" charset="0"/>
                </a:rPr>
                <a:t>[반복/검수]</a:t>
              </a:r>
              <a:r>
                <a:rPr lang="ko-KR" altLang="ko-KR" sz="1200" dirty="0">
                  <a:latin typeface="Arial" panose="020B0604020202020204" pitchFamily="34" charset="0"/>
                </a:rPr>
                <a:t> 다음 부위 이동 후 촬영 반복, 필요시 '</a:t>
              </a:r>
              <a:r>
                <a:rPr lang="ko-KR" altLang="ko-KR" sz="1200" dirty="0" err="1">
                  <a:latin typeface="Arial" panose="020B0604020202020204" pitchFamily="34" charset="0"/>
                </a:rPr>
                <a:t>보관함'에서</a:t>
              </a:r>
              <a:r>
                <a:rPr lang="ko-KR" altLang="ko-KR" sz="1200" dirty="0">
                  <a:latin typeface="Arial" panose="020B0604020202020204" pitchFamily="34" charset="0"/>
                </a:rPr>
                <a:t> 입력 수치 </a:t>
              </a:r>
              <a:r>
                <a:rPr lang="ko-KR" altLang="ko-KR" sz="1200" dirty="0" err="1">
                  <a:latin typeface="Arial" panose="020B0604020202020204" pitchFamily="34" charset="0"/>
                </a:rPr>
                <a:t>재검수</a:t>
              </a:r>
              <a:endParaRPr lang="ko-KR" altLang="ko-KR" sz="1200" dirty="0">
                <a:latin typeface="Arial" panose="020B0604020202020204" pitchFamily="34" charset="0"/>
              </a:endParaRPr>
            </a:p>
            <a:p>
              <a:pPr lvl="0" eaLnBrk="0" fontAlgn="base" latinLnBrk="0" hangingPunct="0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 b="1" dirty="0">
                  <a:latin typeface="Arial" panose="020B0604020202020204" pitchFamily="34" charset="0"/>
                </a:rPr>
                <a:t>[서버 전송]</a:t>
              </a:r>
              <a:r>
                <a:rPr lang="ko-KR" altLang="ko-KR" sz="1200" dirty="0">
                  <a:latin typeface="Arial" panose="020B0604020202020204" pitchFamily="34" charset="0"/>
                </a:rPr>
                <a:t> 지상(통신 원활)</a:t>
              </a:r>
              <a:r>
                <a:rPr lang="ko-KR" altLang="ko-KR" sz="1200" dirty="0" err="1">
                  <a:latin typeface="Arial" panose="020B0604020202020204" pitchFamily="34" charset="0"/>
                </a:rPr>
                <a:t>으로</a:t>
              </a:r>
              <a:r>
                <a:rPr lang="ko-KR" altLang="ko-KR" sz="1200" dirty="0">
                  <a:latin typeface="Arial" panose="020B0604020202020204" pitchFamily="34" charset="0"/>
                </a:rPr>
                <a:t> 이동 후 홈 화면에서 '일괄 전송' 실행</a:t>
              </a: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17571033-7C0B-8566-83C6-D6AB3F7E8C92}"/>
                </a:ext>
              </a:extLst>
            </p:cNvPr>
            <p:cNvSpPr/>
            <p:nvPr/>
          </p:nvSpPr>
          <p:spPr>
            <a:xfrm rot="5400000">
              <a:off x="1207156" y="4144018"/>
              <a:ext cx="157438" cy="149566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86C84304-0F4E-B7B6-64E8-3340E4A9A4AA}"/>
                </a:ext>
              </a:extLst>
            </p:cNvPr>
            <p:cNvSpPr/>
            <p:nvPr/>
          </p:nvSpPr>
          <p:spPr>
            <a:xfrm rot="5400000">
              <a:off x="1207156" y="4607918"/>
              <a:ext cx="157438" cy="149566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화살표: 오른쪽 17">
              <a:extLst>
                <a:ext uri="{FF2B5EF4-FFF2-40B4-BE49-F238E27FC236}">
                  <a16:creationId xmlns:a16="http://schemas.microsoft.com/office/drawing/2014/main" id="{88E76907-FEBD-F5D5-6860-3680E83FF962}"/>
                </a:ext>
              </a:extLst>
            </p:cNvPr>
            <p:cNvSpPr/>
            <p:nvPr/>
          </p:nvSpPr>
          <p:spPr>
            <a:xfrm rot="5400000">
              <a:off x="1207156" y="5071818"/>
              <a:ext cx="157438" cy="149566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66FDE9EF-8696-674D-1AE1-2EB7CEF974EC}"/>
                </a:ext>
              </a:extLst>
            </p:cNvPr>
            <p:cNvSpPr/>
            <p:nvPr/>
          </p:nvSpPr>
          <p:spPr>
            <a:xfrm rot="5400000">
              <a:off x="1207156" y="5535718"/>
              <a:ext cx="157438" cy="149566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800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637E-57B7-2A1A-D4CF-82A717B9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DD5DA16-B63D-E19C-0868-B3EAFB9A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546" y="2619905"/>
            <a:ext cx="4459641" cy="620839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 sz="1600" b="1" dirty="0"/>
              <a:t>화면 설계서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ACBA191-7F2D-1E9D-C774-7CA9CA15CCCE}"/>
              </a:ext>
            </a:extLst>
          </p:cNvPr>
          <p:cNvSpPr/>
          <p:nvPr/>
        </p:nvSpPr>
        <p:spPr>
          <a:xfrm>
            <a:off x="4297680" y="3246120"/>
            <a:ext cx="3566160" cy="0"/>
          </a:xfrm>
          <a:prstGeom prst="line">
            <a:avLst/>
          </a:prstGeom>
          <a:noFill/>
          <a:ln w="12700">
            <a:solidFill>
              <a:srgbClr val="D93434"/>
            </a:solidFill>
            <a:prstDash val="solid"/>
          </a:ln>
        </p:spPr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12CA137-D7A4-A68C-483E-ED07B367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1546" y="3688487"/>
            <a:ext cx="4459641" cy="326484"/>
          </a:xfrm>
        </p:spPr>
        <p:txBody>
          <a:bodyPr anchor="ctr">
            <a:normAutofit/>
          </a:bodyPr>
          <a:lstStyle/>
          <a:p>
            <a:pPr algn="ctr"/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3209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16177BFD-1A59-E646-E1D7-3F0DB54217AC}"/>
              </a:ext>
            </a:extLst>
          </p:cNvPr>
          <p:cNvSpPr/>
          <p:nvPr/>
        </p:nvSpPr>
        <p:spPr>
          <a:xfrm>
            <a:off x="658368" y="1127836"/>
            <a:ext cx="8321040" cy="5421478"/>
          </a:xfrm>
          <a:prstGeom prst="rect">
            <a:avLst/>
          </a:prstGeom>
          <a:solidFill>
            <a:srgbClr val="F7F7F7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7" name="Shape 30">
            <a:extLst>
              <a:ext uri="{FF2B5EF4-FFF2-40B4-BE49-F238E27FC236}">
                <a16:creationId xmlns:a16="http://schemas.microsoft.com/office/drawing/2014/main" id="{49060E3E-609A-EE65-6C2F-72B9560A3D4E}"/>
              </a:ext>
            </a:extLst>
          </p:cNvPr>
          <p:cNvSpPr/>
          <p:nvPr/>
        </p:nvSpPr>
        <p:spPr>
          <a:xfrm>
            <a:off x="9067800" y="1127836"/>
            <a:ext cx="2743200" cy="542147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F3A4A451-2C08-D621-32C7-C3D1A5C6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39281"/>
            <a:ext cx="4459641" cy="620839"/>
          </a:xfrm>
        </p:spPr>
        <p:txBody>
          <a:bodyPr anchor="ctr">
            <a:normAutofit/>
          </a:bodyPr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홈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메인 화면</a:t>
            </a:r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11D432DD-F86F-3C7B-8270-21F703665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755056"/>
            <a:ext cx="5301615" cy="326484"/>
          </a:xfrm>
        </p:spPr>
        <p:txBody>
          <a:bodyPr anchor="ctr">
            <a:normAutofit fontScale="92500"/>
          </a:bodyPr>
          <a:lstStyle/>
          <a:p>
            <a:r>
              <a:rPr lang="ko-KR" altLang="en-US" sz="1000" b="1" dirty="0"/>
              <a:t>현재 네트워크 상태와 오늘의 작업 진척도를 확인하고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조사할 항목을 선택하여 촬영에 진입한다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sp>
        <p:nvSpPr>
          <p:cNvPr id="2" name="Text 28">
            <a:extLst>
              <a:ext uri="{FF2B5EF4-FFF2-40B4-BE49-F238E27FC236}">
                <a16:creationId xmlns:a16="http://schemas.microsoft.com/office/drawing/2014/main" id="{3AD4ECF6-8A87-7E45-30C2-9B303215CAE3}"/>
              </a:ext>
            </a:extLst>
          </p:cNvPr>
          <p:cNvSpPr/>
          <p:nvPr/>
        </p:nvSpPr>
        <p:spPr>
          <a:xfrm>
            <a:off x="9204229" y="1257300"/>
            <a:ext cx="22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및 정책 정의</a:t>
            </a:r>
            <a:endParaRPr lang="en-US" sz="1000" dirty="0"/>
          </a:p>
        </p:txBody>
      </p:sp>
      <p:sp>
        <p:nvSpPr>
          <p:cNvPr id="3" name="Shape 29">
            <a:extLst>
              <a:ext uri="{FF2B5EF4-FFF2-40B4-BE49-F238E27FC236}">
                <a16:creationId xmlns:a16="http://schemas.microsoft.com/office/drawing/2014/main" id="{9CCCA0B0-3AE3-2528-52E5-9CE680655CB9}"/>
              </a:ext>
            </a:extLst>
          </p:cNvPr>
          <p:cNvSpPr/>
          <p:nvPr/>
        </p:nvSpPr>
        <p:spPr>
          <a:xfrm>
            <a:off x="9204229" y="1504188"/>
            <a:ext cx="2208976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FC47942C-0514-EFD2-6123-3AE2C403B055}"/>
              </a:ext>
            </a:extLst>
          </p:cNvPr>
          <p:cNvSpPr/>
          <p:nvPr/>
        </p:nvSpPr>
        <p:spPr>
          <a:xfrm>
            <a:off x="9187482" y="1611630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</a:t>
            </a:r>
            <a:r>
              <a:rPr lang="ko-KR" altLang="en-US" sz="900" b="1" dirty="0" err="1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상태바</a:t>
            </a:r>
            <a:endParaRPr lang="en-US" sz="900" dirty="0"/>
          </a:p>
        </p:txBody>
      </p:sp>
      <p:sp>
        <p:nvSpPr>
          <p:cNvPr id="5" name="Text 31">
            <a:extLst>
              <a:ext uri="{FF2B5EF4-FFF2-40B4-BE49-F238E27FC236}">
                <a16:creationId xmlns:a16="http://schemas.microsoft.com/office/drawing/2014/main" id="{4CF84500-A172-285D-2165-6BE078DD65F8}"/>
              </a:ext>
            </a:extLst>
          </p:cNvPr>
          <p:cNvSpPr/>
          <p:nvPr/>
        </p:nvSpPr>
        <p:spPr>
          <a:xfrm>
            <a:off x="9243367" y="1708024"/>
            <a:ext cx="2394731" cy="7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상태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(On/Off):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기기의 통신 상태를 체크하여 온라인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녹색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표시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오프라인 상태일 경우 데이터는 로컬에만 저장</a:t>
            </a:r>
            <a:endParaRPr lang="en-US" sz="9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ABB81D-753D-5E27-60F9-16F1309F8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0" y="1504188"/>
            <a:ext cx="2168345" cy="4684105"/>
          </a:xfrm>
          <a:prstGeom prst="rect">
            <a:avLst/>
          </a:prstGeom>
        </p:spPr>
      </p:pic>
      <p:sp>
        <p:nvSpPr>
          <p:cNvPr id="10" name="Text 30">
            <a:extLst>
              <a:ext uri="{FF2B5EF4-FFF2-40B4-BE49-F238E27FC236}">
                <a16:creationId xmlns:a16="http://schemas.microsoft.com/office/drawing/2014/main" id="{0B87EE7E-EB49-3721-98B3-20C4ACB9B4A3}"/>
              </a:ext>
            </a:extLst>
          </p:cNvPr>
          <p:cNvSpPr/>
          <p:nvPr/>
        </p:nvSpPr>
        <p:spPr>
          <a:xfrm>
            <a:off x="9187482" y="2501989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항목 선택 카드</a:t>
            </a:r>
            <a:endParaRPr lang="en-US" sz="900" dirty="0"/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F08C3758-9AD3-0144-B8C7-8529FE095CB2}"/>
              </a:ext>
            </a:extLst>
          </p:cNvPr>
          <p:cNvSpPr/>
          <p:nvPr/>
        </p:nvSpPr>
        <p:spPr>
          <a:xfrm>
            <a:off x="9243367" y="2760307"/>
            <a:ext cx="2394731" cy="99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탄산화 조사 카드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하면 카메라 촬영 화면으로 즉시 이동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배근 간격 조사 카드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v1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에서는 제외 항목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. </a:t>
            </a: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탄산화 조사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DB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수집 시작 시점에 추가 예정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현재는음영처리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추후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4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개 항목까지 확대 될 수 있음</a:t>
            </a:r>
            <a:endParaRPr lang="en-US" sz="9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1DB860A-B7E9-1FBF-3D76-EFD04B5F3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44" y="1504188"/>
            <a:ext cx="2168345" cy="4684105"/>
          </a:xfrm>
          <a:prstGeom prst="rect">
            <a:avLst/>
          </a:prstGeom>
        </p:spPr>
      </p:pic>
      <p:sp>
        <p:nvSpPr>
          <p:cNvPr id="15" name="Text 30">
            <a:extLst>
              <a:ext uri="{FF2B5EF4-FFF2-40B4-BE49-F238E27FC236}">
                <a16:creationId xmlns:a16="http://schemas.microsoft.com/office/drawing/2014/main" id="{EDD9A531-A89A-D218-39C0-942D5BBB236A}"/>
              </a:ext>
            </a:extLst>
          </p:cNvPr>
          <p:cNvSpPr/>
          <p:nvPr/>
        </p:nvSpPr>
        <p:spPr>
          <a:xfrm>
            <a:off x="9204229" y="3863646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현황 대시보드</a:t>
            </a:r>
            <a:endParaRPr lang="en-US" sz="900" dirty="0"/>
          </a:p>
        </p:txBody>
      </p:sp>
      <p:sp>
        <p:nvSpPr>
          <p:cNvPr id="16" name="Text 31">
            <a:extLst>
              <a:ext uri="{FF2B5EF4-FFF2-40B4-BE49-F238E27FC236}">
                <a16:creationId xmlns:a16="http://schemas.microsoft.com/office/drawing/2014/main" id="{2A6C622C-EB8B-ACAC-4D78-4126189F975D}"/>
              </a:ext>
            </a:extLst>
          </p:cNvPr>
          <p:cNvSpPr/>
          <p:nvPr/>
        </p:nvSpPr>
        <p:spPr>
          <a:xfrm>
            <a:off x="9260114" y="4073697"/>
            <a:ext cx="2394731" cy="125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로컬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조회하여 당일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(00:00~23:59)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수집된 데이터 카운트를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텍스트로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랜더링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항목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총 촬영 건수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/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미전송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대기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빨간색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) /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전송  완료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녹색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0" indent="0">
              <a:buNone/>
            </a:pP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보관함 보기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사진 보관함으로 이동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후술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7" name="Text 30">
            <a:extLst>
              <a:ext uri="{FF2B5EF4-FFF2-40B4-BE49-F238E27FC236}">
                <a16:creationId xmlns:a16="http://schemas.microsoft.com/office/drawing/2014/main" id="{38202134-0BAD-9FCE-375A-080F8C459EEE}"/>
              </a:ext>
            </a:extLst>
          </p:cNvPr>
          <p:cNvSpPr/>
          <p:nvPr/>
        </p:nvSpPr>
        <p:spPr>
          <a:xfrm>
            <a:off x="9204229" y="5355756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업로드</a:t>
            </a:r>
            <a:r>
              <a:rPr lang="en-US" altLang="ko-KR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</a:t>
            </a:r>
            <a:endParaRPr lang="en-US" sz="900" dirty="0"/>
          </a:p>
        </p:txBody>
      </p:sp>
      <p:sp>
        <p:nvSpPr>
          <p:cNvPr id="18" name="Text 31">
            <a:extLst>
              <a:ext uri="{FF2B5EF4-FFF2-40B4-BE49-F238E27FC236}">
                <a16:creationId xmlns:a16="http://schemas.microsoft.com/office/drawing/2014/main" id="{DAAA4F21-3D0A-B8B5-B3C4-47B13AE0BF37}"/>
              </a:ext>
            </a:extLst>
          </p:cNvPr>
          <p:cNvSpPr/>
          <p:nvPr/>
        </p:nvSpPr>
        <p:spPr>
          <a:xfrm>
            <a:off x="9260114" y="5614075"/>
            <a:ext cx="2394731" cy="7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시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미전송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대기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상태의 데이터를 서버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(API)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일괄 전송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(Batch Upload)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조건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미전송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데이터가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건 이상일 때만 활성화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파란색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).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0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건 인 경우 비활성화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회색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)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및 터치 불가</a:t>
            </a: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7D6ACF-FC6E-9550-8155-A303F39DDBB1}"/>
              </a:ext>
            </a:extLst>
          </p:cNvPr>
          <p:cNvSpPr txBox="1"/>
          <p:nvPr/>
        </p:nvSpPr>
        <p:spPr>
          <a:xfrm>
            <a:off x="1687828" y="6189562"/>
            <a:ext cx="10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orginal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26327CC-B087-1D3E-CF52-1C486D81FF23}"/>
              </a:ext>
            </a:extLst>
          </p:cNvPr>
          <p:cNvSpPr/>
          <p:nvPr/>
        </p:nvSpPr>
        <p:spPr>
          <a:xfrm>
            <a:off x="6953250" y="1630680"/>
            <a:ext cx="504825" cy="264795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B310A0B-5741-E9EF-DAEC-CC34719B8C17}"/>
              </a:ext>
            </a:extLst>
          </p:cNvPr>
          <p:cNvSpPr/>
          <p:nvPr/>
        </p:nvSpPr>
        <p:spPr>
          <a:xfrm>
            <a:off x="5553075" y="2202180"/>
            <a:ext cx="1924050" cy="2587677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5CF26F-7467-2162-5CB2-7C40B3897863}"/>
              </a:ext>
            </a:extLst>
          </p:cNvPr>
          <p:cNvSpPr/>
          <p:nvPr/>
        </p:nvSpPr>
        <p:spPr>
          <a:xfrm>
            <a:off x="5534025" y="4957573"/>
            <a:ext cx="1924050" cy="7559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AA940B-AD11-9FD9-55C4-AF61D24B022B}"/>
              </a:ext>
            </a:extLst>
          </p:cNvPr>
          <p:cNvSpPr/>
          <p:nvPr/>
        </p:nvSpPr>
        <p:spPr>
          <a:xfrm>
            <a:off x="5541872" y="5744331"/>
            <a:ext cx="1924050" cy="32060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537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649A3-2B18-DFC3-7AE2-DEFE2BBD7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A30871C8-171A-FDB8-65DE-C958D0D33F07}"/>
              </a:ext>
            </a:extLst>
          </p:cNvPr>
          <p:cNvSpPr/>
          <p:nvPr/>
        </p:nvSpPr>
        <p:spPr>
          <a:xfrm>
            <a:off x="658368" y="1127836"/>
            <a:ext cx="8321040" cy="5421478"/>
          </a:xfrm>
          <a:prstGeom prst="rect">
            <a:avLst/>
          </a:prstGeom>
          <a:solidFill>
            <a:srgbClr val="F7F7F7"/>
          </a:solidFill>
          <a:ln w="12700">
            <a:solidFill>
              <a:srgbClr val="DCDCDC"/>
            </a:solidFill>
            <a:prstDash val="solid"/>
          </a:ln>
        </p:spPr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4CB6149-62FD-3430-26B0-348835FCD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626" y="1504187"/>
            <a:ext cx="2168345" cy="4684105"/>
          </a:xfrm>
          <a:prstGeom prst="rect">
            <a:avLst/>
          </a:prstGeom>
        </p:spPr>
      </p:pic>
      <p:sp>
        <p:nvSpPr>
          <p:cNvPr id="7" name="Shape 30">
            <a:extLst>
              <a:ext uri="{FF2B5EF4-FFF2-40B4-BE49-F238E27FC236}">
                <a16:creationId xmlns:a16="http://schemas.microsoft.com/office/drawing/2014/main" id="{3A56C0E2-B708-2027-70B3-E5A8D6FEECF0}"/>
              </a:ext>
            </a:extLst>
          </p:cNvPr>
          <p:cNvSpPr/>
          <p:nvPr/>
        </p:nvSpPr>
        <p:spPr>
          <a:xfrm>
            <a:off x="9067800" y="1127836"/>
            <a:ext cx="2743200" cy="542147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618D7225-FA94-9DF4-DF4F-B1CB2A27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39281"/>
            <a:ext cx="4459641" cy="620839"/>
          </a:xfrm>
        </p:spPr>
        <p:txBody>
          <a:bodyPr anchor="ctr">
            <a:normAutofit/>
          </a:bodyPr>
          <a:lstStyle/>
          <a:p>
            <a:r>
              <a:rPr lang="en-US" altLang="ko-KR" sz="1400" b="1" dirty="0"/>
              <a:t>2. </a:t>
            </a:r>
            <a:r>
              <a:rPr lang="ko-KR" altLang="en-US" sz="1400" b="1" dirty="0"/>
              <a:t>카메라 촬영 화면</a:t>
            </a:r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A16D57F4-29EB-EF3D-DBD5-EB48970CE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755056"/>
            <a:ext cx="6120765" cy="326484"/>
          </a:xfrm>
        </p:spPr>
        <p:txBody>
          <a:bodyPr anchor="ctr">
            <a:normAutofit/>
          </a:bodyPr>
          <a:lstStyle/>
          <a:p>
            <a:r>
              <a:rPr lang="en-US" altLang="ko-KR" sz="1000" b="1" dirty="0"/>
              <a:t>AI</a:t>
            </a:r>
            <a:r>
              <a:rPr lang="ko-KR" altLang="en-US" sz="1000" b="1" dirty="0"/>
              <a:t>의 인식률을 극대화하기 위해 환경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수평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조도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을 통제하고 규격화된 사진을 수집하는 촬영</a:t>
            </a:r>
          </a:p>
        </p:txBody>
      </p:sp>
      <p:sp>
        <p:nvSpPr>
          <p:cNvPr id="2" name="Text 28">
            <a:extLst>
              <a:ext uri="{FF2B5EF4-FFF2-40B4-BE49-F238E27FC236}">
                <a16:creationId xmlns:a16="http://schemas.microsoft.com/office/drawing/2014/main" id="{C7116620-59DC-D01D-CD59-87D06407B4AB}"/>
              </a:ext>
            </a:extLst>
          </p:cNvPr>
          <p:cNvSpPr/>
          <p:nvPr/>
        </p:nvSpPr>
        <p:spPr>
          <a:xfrm>
            <a:off x="9204229" y="1257300"/>
            <a:ext cx="22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및 정책 정의</a:t>
            </a:r>
            <a:endParaRPr lang="en-US" sz="1000" dirty="0"/>
          </a:p>
        </p:txBody>
      </p:sp>
      <p:sp>
        <p:nvSpPr>
          <p:cNvPr id="3" name="Shape 29">
            <a:extLst>
              <a:ext uri="{FF2B5EF4-FFF2-40B4-BE49-F238E27FC236}">
                <a16:creationId xmlns:a16="http://schemas.microsoft.com/office/drawing/2014/main" id="{DDC3938A-48A5-933E-07CF-371EAD300249}"/>
              </a:ext>
            </a:extLst>
          </p:cNvPr>
          <p:cNvSpPr/>
          <p:nvPr/>
        </p:nvSpPr>
        <p:spPr>
          <a:xfrm>
            <a:off x="9204229" y="1504188"/>
            <a:ext cx="2208976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073C9DA1-62BB-8E15-7846-06B3022C1568}"/>
              </a:ext>
            </a:extLst>
          </p:cNvPr>
          <p:cNvSpPr/>
          <p:nvPr/>
        </p:nvSpPr>
        <p:spPr>
          <a:xfrm>
            <a:off x="9187482" y="1611630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가이드</a:t>
            </a:r>
            <a:endParaRPr lang="en-US" sz="900" dirty="0"/>
          </a:p>
        </p:txBody>
      </p:sp>
      <p:sp>
        <p:nvSpPr>
          <p:cNvPr id="5" name="Text 31">
            <a:extLst>
              <a:ext uri="{FF2B5EF4-FFF2-40B4-BE49-F238E27FC236}">
                <a16:creationId xmlns:a16="http://schemas.microsoft.com/office/drawing/2014/main" id="{73DC99FB-4EB0-EEC6-15C3-20961E9C08B4}"/>
              </a:ext>
            </a:extLst>
          </p:cNvPr>
          <p:cNvSpPr/>
          <p:nvPr/>
        </p:nvSpPr>
        <p:spPr>
          <a:xfrm>
            <a:off x="9243367" y="1844420"/>
            <a:ext cx="2394731" cy="13857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 박스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중앙에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캘리퍼스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액정 비율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가로형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테두리 상시 노출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수평계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십자선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스마트폰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자이로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센서와 연동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수평이 맞으면 녹색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틀어지면 빨간색으로 실시간 변경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터치 포커스 링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화면 터치 시 노란색 링이 표시되며 해당 영역으로 초점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(AF)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및 노출 자동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조덜</a:t>
            </a:r>
            <a:endParaRPr lang="en-US" sz="900" dirty="0"/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69D0F2F4-AF47-B9BB-6D76-B7FCC6203F5E}"/>
              </a:ext>
            </a:extLst>
          </p:cNvPr>
          <p:cNvSpPr/>
          <p:nvPr/>
        </p:nvSpPr>
        <p:spPr>
          <a:xfrm>
            <a:off x="9187482" y="3349714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제어 컨트롤</a:t>
            </a:r>
            <a:endParaRPr lang="en-US" sz="900" dirty="0"/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54BAB31D-F207-692A-EBC2-1533DCB78761}"/>
              </a:ext>
            </a:extLst>
          </p:cNvPr>
          <p:cNvSpPr/>
          <p:nvPr/>
        </p:nvSpPr>
        <p:spPr>
          <a:xfrm>
            <a:off x="9243367" y="3608032"/>
            <a:ext cx="2394731" cy="99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 경고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조도 센서 기준 특정 밝기 이하일 때 하단에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플래시를 켜주세요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상단 플래쉬 버튼으로 플래시 제어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줌 컨트롤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(1x ~ 5x)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시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2x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배율을 기본값으로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셋팅하는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 고려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5" name="Text 30">
            <a:extLst>
              <a:ext uri="{FF2B5EF4-FFF2-40B4-BE49-F238E27FC236}">
                <a16:creationId xmlns:a16="http://schemas.microsoft.com/office/drawing/2014/main" id="{CA63FD48-2798-234C-00FF-A14878EF9C47}"/>
              </a:ext>
            </a:extLst>
          </p:cNvPr>
          <p:cNvSpPr/>
          <p:nvPr/>
        </p:nvSpPr>
        <p:spPr>
          <a:xfrm>
            <a:off x="9204229" y="4654221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액션</a:t>
            </a:r>
            <a:endParaRPr lang="en-US" sz="900" dirty="0"/>
          </a:p>
        </p:txBody>
      </p:sp>
      <p:sp>
        <p:nvSpPr>
          <p:cNvPr id="16" name="Text 31">
            <a:extLst>
              <a:ext uri="{FF2B5EF4-FFF2-40B4-BE49-F238E27FC236}">
                <a16:creationId xmlns:a16="http://schemas.microsoft.com/office/drawing/2014/main" id="{D3E69FBA-48D4-8675-D650-D2D0C4BC2178}"/>
              </a:ext>
            </a:extLst>
          </p:cNvPr>
          <p:cNvSpPr/>
          <p:nvPr/>
        </p:nvSpPr>
        <p:spPr>
          <a:xfrm>
            <a:off x="9260114" y="4844722"/>
            <a:ext cx="2394731" cy="1783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[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사진 갤러리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] 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썸네일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가장 최근에 찍은 사진 미리 보기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탭 시 로컬 보관함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화면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4)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로 이동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[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셔터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] 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버튼</a:t>
            </a:r>
            <a:endParaRPr lang="en-US" altLang="ko-KR" sz="900" b="1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   &gt;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활성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수평과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조토가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정상 범위일 때 원형 버튼 노출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탭 시 사진 촬영 후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‘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데이터 입력 화면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화면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3)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으로 자동 이동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    &gt;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잠금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수평이 심하게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어극난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경우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셔터 버튼을 비활성화 하여 불량 데이터 차단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D7DBC3-D6DE-BDA9-2B0E-D22CF9DEA892}"/>
              </a:ext>
            </a:extLst>
          </p:cNvPr>
          <p:cNvSpPr txBox="1"/>
          <p:nvPr/>
        </p:nvSpPr>
        <p:spPr>
          <a:xfrm>
            <a:off x="1687828" y="6189562"/>
            <a:ext cx="10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orginal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EE80CF5-D453-DAA7-E838-5DFB7C696282}"/>
              </a:ext>
            </a:extLst>
          </p:cNvPr>
          <p:cNvSpPr/>
          <p:nvPr/>
        </p:nvSpPr>
        <p:spPr>
          <a:xfrm>
            <a:off x="7915275" y="1649730"/>
            <a:ext cx="504825" cy="264795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E3516D-8D12-040F-1D34-743180A311FC}"/>
              </a:ext>
            </a:extLst>
          </p:cNvPr>
          <p:cNvSpPr/>
          <p:nvPr/>
        </p:nvSpPr>
        <p:spPr>
          <a:xfrm>
            <a:off x="6486525" y="2975879"/>
            <a:ext cx="1924050" cy="1097428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FDA96E0-DBBE-6B9A-4175-3AC7432A99DF}"/>
              </a:ext>
            </a:extLst>
          </p:cNvPr>
          <p:cNvSpPr/>
          <p:nvPr/>
        </p:nvSpPr>
        <p:spPr>
          <a:xfrm>
            <a:off x="6467475" y="5182287"/>
            <a:ext cx="1924050" cy="267698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5A46DC8-C739-CF94-5490-47578C1DCACB}"/>
              </a:ext>
            </a:extLst>
          </p:cNvPr>
          <p:cNvSpPr/>
          <p:nvPr/>
        </p:nvSpPr>
        <p:spPr>
          <a:xfrm>
            <a:off x="6475322" y="5487156"/>
            <a:ext cx="1924050" cy="504069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647B9E0-5570-9349-969A-20C01D35B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69" y="1521593"/>
            <a:ext cx="2168345" cy="468410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EFFBBEF-BFE8-0D13-4F3A-131F719B9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95" t="13651" r="58093" b="18268"/>
          <a:stretch>
            <a:fillRect/>
          </a:stretch>
        </p:blipFill>
        <p:spPr>
          <a:xfrm>
            <a:off x="3812663" y="1504530"/>
            <a:ext cx="2168345" cy="4669031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CAAD1BE0-75A1-80B1-EE89-70DBEA340C4F}"/>
              </a:ext>
            </a:extLst>
          </p:cNvPr>
          <p:cNvGrpSpPr/>
          <p:nvPr/>
        </p:nvGrpSpPr>
        <p:grpSpPr>
          <a:xfrm>
            <a:off x="4188347" y="3319656"/>
            <a:ext cx="1445433" cy="677696"/>
            <a:chOff x="4546793" y="2768682"/>
            <a:chExt cx="3098413" cy="1320635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A41ACF45-4AB7-A91C-0927-9F4EEB071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6793" y="2768682"/>
              <a:ext cx="3098413" cy="1320635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6A4E4D66-9240-A77F-E2BD-22BB8FB08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32" y="3409952"/>
              <a:ext cx="507936" cy="38095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290F1DA1-EA2A-7447-2652-DD1851C85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6952" y="3175032"/>
              <a:ext cx="38095" cy="507936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400815E8-C8E5-9FDE-9300-1082BDA7A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3690" y="3366690"/>
              <a:ext cx="124621" cy="124621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2AADE852-AA71-95C1-9614-2CA6990EDF0B}"/>
              </a:ext>
            </a:extLst>
          </p:cNvPr>
          <p:cNvSpPr txBox="1"/>
          <p:nvPr/>
        </p:nvSpPr>
        <p:spPr>
          <a:xfrm>
            <a:off x="4269560" y="6196072"/>
            <a:ext cx="10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실 촬영 시</a:t>
            </a:r>
          </a:p>
        </p:txBody>
      </p:sp>
    </p:spTree>
    <p:extLst>
      <p:ext uri="{BB962C8B-B14F-4D97-AF65-F5344CB8AC3E}">
        <p14:creationId xmlns:p14="http://schemas.microsoft.com/office/powerpoint/2010/main" val="1081537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28A1A-7ED5-2870-6F90-B495BCA8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B6C79698-7CC5-0727-DC3C-5240E2D00EF6}"/>
              </a:ext>
            </a:extLst>
          </p:cNvPr>
          <p:cNvSpPr/>
          <p:nvPr/>
        </p:nvSpPr>
        <p:spPr>
          <a:xfrm>
            <a:off x="658368" y="1127836"/>
            <a:ext cx="8321040" cy="5421478"/>
          </a:xfrm>
          <a:prstGeom prst="rect">
            <a:avLst/>
          </a:prstGeom>
          <a:solidFill>
            <a:srgbClr val="F7F7F7"/>
          </a:solidFill>
          <a:ln w="12700">
            <a:solidFill>
              <a:srgbClr val="DCDCDC"/>
            </a:solidFill>
            <a:prstDash val="solid"/>
          </a:ln>
        </p:spPr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C2A94EC-18E6-868C-5E26-AB4AF7AC2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153" y="1502543"/>
            <a:ext cx="2168345" cy="4684105"/>
          </a:xfrm>
          <a:prstGeom prst="rect">
            <a:avLst/>
          </a:prstGeom>
        </p:spPr>
      </p:pic>
      <p:sp>
        <p:nvSpPr>
          <p:cNvPr id="7" name="Shape 30">
            <a:extLst>
              <a:ext uri="{FF2B5EF4-FFF2-40B4-BE49-F238E27FC236}">
                <a16:creationId xmlns:a16="http://schemas.microsoft.com/office/drawing/2014/main" id="{C3D4241C-1E79-18B2-E663-6853F6E3B4E5}"/>
              </a:ext>
            </a:extLst>
          </p:cNvPr>
          <p:cNvSpPr/>
          <p:nvPr/>
        </p:nvSpPr>
        <p:spPr>
          <a:xfrm>
            <a:off x="9067800" y="1127836"/>
            <a:ext cx="2743200" cy="542147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4CE9D567-21D8-9D50-E2C0-A2B23633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39281"/>
            <a:ext cx="4459641" cy="620839"/>
          </a:xfrm>
        </p:spPr>
        <p:txBody>
          <a:bodyPr anchor="ctr">
            <a:normAutofit/>
          </a:bodyPr>
          <a:lstStyle/>
          <a:p>
            <a:r>
              <a:rPr lang="en-US" altLang="ko-KR" sz="1400" b="1" dirty="0"/>
              <a:t>3. </a:t>
            </a:r>
            <a:r>
              <a:rPr lang="ko-KR" altLang="en-US" sz="1400" b="1" dirty="0"/>
              <a:t>데이터 입력 및 검수 화면</a:t>
            </a:r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FEC11337-BEF3-2148-F2A8-3C8D51E4F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755056"/>
            <a:ext cx="5301615" cy="326484"/>
          </a:xfrm>
        </p:spPr>
        <p:txBody>
          <a:bodyPr anchor="ctr">
            <a:normAutofit/>
          </a:bodyPr>
          <a:lstStyle/>
          <a:p>
            <a:r>
              <a:rPr lang="ko-KR" altLang="en-US" sz="1000" b="1" dirty="0"/>
              <a:t>촬영된 이미지를 확인하고 </a:t>
            </a:r>
            <a:r>
              <a:rPr lang="ko-KR" altLang="en-US" sz="1000" b="1" dirty="0" err="1"/>
              <a:t>정답값을</a:t>
            </a:r>
            <a:r>
              <a:rPr lang="ko-KR" altLang="en-US" sz="1000" b="1" dirty="0"/>
              <a:t> 작업자가 직접 매핑하는 화면</a:t>
            </a:r>
          </a:p>
        </p:txBody>
      </p:sp>
      <p:sp>
        <p:nvSpPr>
          <p:cNvPr id="2" name="Text 28">
            <a:extLst>
              <a:ext uri="{FF2B5EF4-FFF2-40B4-BE49-F238E27FC236}">
                <a16:creationId xmlns:a16="http://schemas.microsoft.com/office/drawing/2014/main" id="{F64039E1-3C94-81BA-48C9-90333A11D742}"/>
              </a:ext>
            </a:extLst>
          </p:cNvPr>
          <p:cNvSpPr/>
          <p:nvPr/>
        </p:nvSpPr>
        <p:spPr>
          <a:xfrm>
            <a:off x="9204229" y="1257300"/>
            <a:ext cx="22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및 정책 정의</a:t>
            </a:r>
            <a:endParaRPr lang="en-US" sz="1000" dirty="0"/>
          </a:p>
        </p:txBody>
      </p:sp>
      <p:sp>
        <p:nvSpPr>
          <p:cNvPr id="3" name="Shape 29">
            <a:extLst>
              <a:ext uri="{FF2B5EF4-FFF2-40B4-BE49-F238E27FC236}">
                <a16:creationId xmlns:a16="http://schemas.microsoft.com/office/drawing/2014/main" id="{B8356369-C32E-E5CD-56DB-22AE9F20FC06}"/>
              </a:ext>
            </a:extLst>
          </p:cNvPr>
          <p:cNvSpPr/>
          <p:nvPr/>
        </p:nvSpPr>
        <p:spPr>
          <a:xfrm>
            <a:off x="9204229" y="1504188"/>
            <a:ext cx="2208976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0417A8E3-0ACE-899F-9957-9C55F552A619}"/>
              </a:ext>
            </a:extLst>
          </p:cNvPr>
          <p:cNvSpPr/>
          <p:nvPr/>
        </p:nvSpPr>
        <p:spPr>
          <a:xfrm>
            <a:off x="9187482" y="1611630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프리뷰</a:t>
            </a:r>
            <a:endParaRPr lang="en-US" sz="900" dirty="0"/>
          </a:p>
        </p:txBody>
      </p:sp>
      <p:sp>
        <p:nvSpPr>
          <p:cNvPr id="5" name="Text 31">
            <a:extLst>
              <a:ext uri="{FF2B5EF4-FFF2-40B4-BE49-F238E27FC236}">
                <a16:creationId xmlns:a16="http://schemas.microsoft.com/office/drawing/2014/main" id="{FB4CD6E8-0962-0B09-5D05-E0604A5E19DC}"/>
              </a:ext>
            </a:extLst>
          </p:cNvPr>
          <p:cNvSpPr/>
          <p:nvPr/>
        </p:nvSpPr>
        <p:spPr>
          <a:xfrm>
            <a:off x="9243367" y="1708024"/>
            <a:ext cx="2394731" cy="7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촬영한 사진 원본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동작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작은 숫자도 확대해서 읽을 수 있도록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두 손가락 핀치 줌 지원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동작 항목은 후순위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900" dirty="0"/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A83D53D2-34F8-E1A4-1A81-A20D2361153A}"/>
              </a:ext>
            </a:extLst>
          </p:cNvPr>
          <p:cNvSpPr/>
          <p:nvPr/>
        </p:nvSpPr>
        <p:spPr>
          <a:xfrm>
            <a:off x="9187482" y="2501989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및 비고 입력</a:t>
            </a:r>
            <a:endParaRPr lang="en-US" sz="900" dirty="0"/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4C306677-8E0D-8B41-DDD0-D85DC3EB9A75}"/>
              </a:ext>
            </a:extLst>
          </p:cNvPr>
          <p:cNvSpPr/>
          <p:nvPr/>
        </p:nvSpPr>
        <p:spPr>
          <a:xfrm>
            <a:off x="9243367" y="2760307"/>
            <a:ext cx="2394731" cy="99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입력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터치 시 안드로이드 기본 숫자 전용 키보드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소수점 포함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비고란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선택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조사 간 특이 사항 기재용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일반 텍스트 키보드 호출</a:t>
            </a:r>
            <a:endParaRPr lang="en-US" sz="900" dirty="0"/>
          </a:p>
        </p:txBody>
      </p:sp>
      <p:sp>
        <p:nvSpPr>
          <p:cNvPr id="15" name="Text 30">
            <a:extLst>
              <a:ext uri="{FF2B5EF4-FFF2-40B4-BE49-F238E27FC236}">
                <a16:creationId xmlns:a16="http://schemas.microsoft.com/office/drawing/2014/main" id="{2317BB7D-DBCD-38BB-BCA2-D51C525D8067}"/>
              </a:ext>
            </a:extLst>
          </p:cNvPr>
          <p:cNvSpPr/>
          <p:nvPr/>
        </p:nvSpPr>
        <p:spPr>
          <a:xfrm>
            <a:off x="9204229" y="3863646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제어 버튼</a:t>
            </a:r>
            <a:endParaRPr lang="en-US" sz="900" dirty="0"/>
          </a:p>
        </p:txBody>
      </p:sp>
      <p:sp>
        <p:nvSpPr>
          <p:cNvPr id="16" name="Text 31">
            <a:extLst>
              <a:ext uri="{FF2B5EF4-FFF2-40B4-BE49-F238E27FC236}">
                <a16:creationId xmlns:a16="http://schemas.microsoft.com/office/drawing/2014/main" id="{4759440B-9A6F-00F1-B6F5-8A6C29E0C8E9}"/>
              </a:ext>
            </a:extLst>
          </p:cNvPr>
          <p:cNvSpPr/>
          <p:nvPr/>
        </p:nvSpPr>
        <p:spPr>
          <a:xfrm>
            <a:off x="9260114" y="4173894"/>
            <a:ext cx="2394731" cy="2160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촬영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사진이 흔들렸거나 숫자가 정확히 확인되지 않을 때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사진 파기 후 카메라 화면으로 복귀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[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저장 후 계속 촬영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]</a:t>
            </a: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조건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수치 필드에 값이 입력되어야 활성화 됨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동작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데이터를 로컬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DB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에 저장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미전송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상태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)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하고 즉시 다음 촬영을 위해 카메라 화면으로 이동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[</a:t>
            </a: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저장 후 메인으로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]</a:t>
            </a: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동작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계속 촬영과 동일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데이터를 로컬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DB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에 저장 후 메인 화면으로 이동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A1F3CF-79F7-FF4A-C067-B48C87B1ABA6}"/>
              </a:ext>
            </a:extLst>
          </p:cNvPr>
          <p:cNvSpPr txBox="1"/>
          <p:nvPr/>
        </p:nvSpPr>
        <p:spPr>
          <a:xfrm>
            <a:off x="1687828" y="6189562"/>
            <a:ext cx="10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orginal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FFC22A6-9ED7-45EF-9C83-DFCAF40CBB13}"/>
              </a:ext>
            </a:extLst>
          </p:cNvPr>
          <p:cNvSpPr/>
          <p:nvPr/>
        </p:nvSpPr>
        <p:spPr>
          <a:xfrm>
            <a:off x="5491580" y="1583055"/>
            <a:ext cx="2023645" cy="172212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7BDF83-8E38-9689-28EB-308131A2EFBA}"/>
              </a:ext>
            </a:extLst>
          </p:cNvPr>
          <p:cNvSpPr/>
          <p:nvPr/>
        </p:nvSpPr>
        <p:spPr>
          <a:xfrm>
            <a:off x="5553075" y="3552825"/>
            <a:ext cx="1924050" cy="1217982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C17B12-5DE5-0379-6BDA-10381BD6F7C0}"/>
              </a:ext>
            </a:extLst>
          </p:cNvPr>
          <p:cNvSpPr/>
          <p:nvPr/>
        </p:nvSpPr>
        <p:spPr>
          <a:xfrm>
            <a:off x="5463005" y="5433823"/>
            <a:ext cx="2098393" cy="714725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ECB2226-8774-0192-C613-45331F566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44" y="1502543"/>
            <a:ext cx="2168345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3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75F6-E227-C39F-8D3B-0E92CDC2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54D7A179-5A29-8665-03E2-6336DE5E5B0B}"/>
              </a:ext>
            </a:extLst>
          </p:cNvPr>
          <p:cNvSpPr/>
          <p:nvPr/>
        </p:nvSpPr>
        <p:spPr>
          <a:xfrm>
            <a:off x="658368" y="1127836"/>
            <a:ext cx="8321040" cy="5421478"/>
          </a:xfrm>
          <a:prstGeom prst="rect">
            <a:avLst/>
          </a:prstGeom>
          <a:solidFill>
            <a:srgbClr val="F7F7F7"/>
          </a:solidFill>
          <a:ln w="12700">
            <a:solidFill>
              <a:srgbClr val="DCDCDC"/>
            </a:solidFill>
            <a:prstDash val="solid"/>
          </a:ln>
        </p:spPr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5F23B7F-0523-9357-3CA2-76FE804E9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775" y="1493811"/>
            <a:ext cx="2168345" cy="46841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DA09655-868C-0A69-E784-EB642433F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08" y="1513170"/>
            <a:ext cx="2168345" cy="4684105"/>
          </a:xfrm>
          <a:prstGeom prst="rect">
            <a:avLst/>
          </a:prstGeom>
        </p:spPr>
      </p:pic>
      <p:sp>
        <p:nvSpPr>
          <p:cNvPr id="7" name="Shape 30">
            <a:extLst>
              <a:ext uri="{FF2B5EF4-FFF2-40B4-BE49-F238E27FC236}">
                <a16:creationId xmlns:a16="http://schemas.microsoft.com/office/drawing/2014/main" id="{FE8D3E4B-CF7E-85B0-BDE0-64F890873232}"/>
              </a:ext>
            </a:extLst>
          </p:cNvPr>
          <p:cNvSpPr/>
          <p:nvPr/>
        </p:nvSpPr>
        <p:spPr>
          <a:xfrm>
            <a:off x="9067800" y="1127836"/>
            <a:ext cx="2743200" cy="542147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12E84955-1C4D-622F-9552-8B595580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39281"/>
            <a:ext cx="4459641" cy="620839"/>
          </a:xfrm>
        </p:spPr>
        <p:txBody>
          <a:bodyPr anchor="ctr">
            <a:normAutofit/>
          </a:bodyPr>
          <a:lstStyle/>
          <a:p>
            <a:r>
              <a:rPr lang="en-US" altLang="ko-KR" sz="1400" b="1" dirty="0"/>
              <a:t>4. </a:t>
            </a:r>
            <a:r>
              <a:rPr lang="ko-KR" altLang="en-US" sz="1400" b="1" dirty="0"/>
              <a:t>사진 보관함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로컬 보관함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EC451E07-7001-E441-8269-1FE723AB8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755056"/>
            <a:ext cx="5920740" cy="326484"/>
          </a:xfrm>
        </p:spPr>
        <p:txBody>
          <a:bodyPr anchor="ctr">
            <a:normAutofit/>
          </a:bodyPr>
          <a:lstStyle/>
          <a:p>
            <a:r>
              <a:rPr lang="ko-KR" altLang="en-US" sz="1000" b="1" dirty="0"/>
              <a:t>당일 수집한 데이터의 상태를 확인하고 서버 전송 전 </a:t>
            </a:r>
            <a:r>
              <a:rPr lang="ko-KR" altLang="en-US" sz="1000" b="1" dirty="0" err="1"/>
              <a:t>오입력된</a:t>
            </a:r>
            <a:r>
              <a:rPr lang="ko-KR" altLang="en-US" sz="1000" b="1" dirty="0"/>
              <a:t> 수치를 수정할 수 있는 화면</a:t>
            </a:r>
          </a:p>
        </p:txBody>
      </p:sp>
      <p:sp>
        <p:nvSpPr>
          <p:cNvPr id="2" name="Text 28">
            <a:extLst>
              <a:ext uri="{FF2B5EF4-FFF2-40B4-BE49-F238E27FC236}">
                <a16:creationId xmlns:a16="http://schemas.microsoft.com/office/drawing/2014/main" id="{CB6CA5AC-D020-6F47-FC09-2B48066CECFB}"/>
              </a:ext>
            </a:extLst>
          </p:cNvPr>
          <p:cNvSpPr/>
          <p:nvPr/>
        </p:nvSpPr>
        <p:spPr>
          <a:xfrm>
            <a:off x="9204229" y="1257300"/>
            <a:ext cx="22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및 정책 정의</a:t>
            </a:r>
            <a:endParaRPr lang="en-US" sz="1000" dirty="0"/>
          </a:p>
        </p:txBody>
      </p:sp>
      <p:sp>
        <p:nvSpPr>
          <p:cNvPr id="3" name="Shape 29">
            <a:extLst>
              <a:ext uri="{FF2B5EF4-FFF2-40B4-BE49-F238E27FC236}">
                <a16:creationId xmlns:a16="http://schemas.microsoft.com/office/drawing/2014/main" id="{AA0EA7A4-D158-CE1C-8EE2-95BB5862F2FA}"/>
              </a:ext>
            </a:extLst>
          </p:cNvPr>
          <p:cNvSpPr/>
          <p:nvPr/>
        </p:nvSpPr>
        <p:spPr>
          <a:xfrm>
            <a:off x="9204229" y="1504188"/>
            <a:ext cx="2208976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379A3E2B-3DE3-523E-8448-782193521579}"/>
              </a:ext>
            </a:extLst>
          </p:cNvPr>
          <p:cNvSpPr/>
          <p:nvPr/>
        </p:nvSpPr>
        <p:spPr>
          <a:xfrm>
            <a:off x="9187482" y="1611630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리스트</a:t>
            </a:r>
            <a:endParaRPr lang="en-US" sz="900" dirty="0"/>
          </a:p>
        </p:txBody>
      </p:sp>
      <p:sp>
        <p:nvSpPr>
          <p:cNvPr id="5" name="Text 31">
            <a:extLst>
              <a:ext uri="{FF2B5EF4-FFF2-40B4-BE49-F238E27FC236}">
                <a16:creationId xmlns:a16="http://schemas.microsoft.com/office/drawing/2014/main" id="{8B79FBAB-3C1C-FD98-F1E1-EDECD58E96EE}"/>
              </a:ext>
            </a:extLst>
          </p:cNvPr>
          <p:cNvSpPr/>
          <p:nvPr/>
        </p:nvSpPr>
        <p:spPr>
          <a:xfrm>
            <a:off x="9243367" y="1708024"/>
            <a:ext cx="2394731" cy="7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촬영 순으로 리스트 정렬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썸네일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 포함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상태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뱃지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</a:p>
          <a:p>
            <a:r>
              <a:rPr lang="ko-KR" altLang="ko-KR" sz="900" dirty="0">
                <a:latin typeface="Arial Unicode MS"/>
              </a:rPr>
              <a:t>[● 대기중]</a:t>
            </a:r>
            <a:r>
              <a:rPr lang="ko-KR" altLang="ko-KR" sz="900" dirty="0"/>
              <a:t> (빨간색) / </a:t>
            </a:r>
            <a:r>
              <a:rPr lang="ko-KR" altLang="ko-KR" sz="900" dirty="0">
                <a:latin typeface="Arial Unicode MS"/>
              </a:rPr>
              <a:t>[✔ 전송완료]</a:t>
            </a:r>
            <a:r>
              <a:rPr lang="ko-KR" altLang="ko-KR" sz="900" dirty="0"/>
              <a:t> (녹색)</a:t>
            </a:r>
            <a:endParaRPr lang="en-US" altLang="ko-KR" sz="900" dirty="0"/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8DCA9ACF-5BD0-C099-4FCE-19B92B25836D}"/>
              </a:ext>
            </a:extLst>
          </p:cNvPr>
          <p:cNvSpPr/>
          <p:nvPr/>
        </p:nvSpPr>
        <p:spPr>
          <a:xfrm>
            <a:off x="9187482" y="2501989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altLang="ko-KR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altLang="ko-KR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</a:t>
            </a:r>
            <a:endParaRPr lang="en-US" sz="900" dirty="0"/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F7C9EC88-C7B7-C431-63BF-CF64D9D09FD7}"/>
              </a:ext>
            </a:extLst>
          </p:cNvPr>
          <p:cNvSpPr/>
          <p:nvPr/>
        </p:nvSpPr>
        <p:spPr>
          <a:xfrm>
            <a:off x="9243367" y="2760307"/>
            <a:ext cx="2394731" cy="1160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상태가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대기중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미전송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)’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데이터에만 노출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‘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전송 완료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데이터는 수정 불가</a:t>
            </a: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altLang="ko-KR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동작</a:t>
            </a:r>
            <a:r>
              <a:rPr lang="en-US" altLang="ko-KR" sz="9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: </a:t>
            </a:r>
          </a:p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탭 하면 해당 데이터의 입력화면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화면 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3)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상태를 다시 호출하며 수치와 비고란 </a:t>
            </a:r>
            <a:r>
              <a:rPr lang="ko-KR" altLang="en-US" sz="9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수정후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 재 저장 가능</a:t>
            </a: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5" name="Text 30">
            <a:extLst>
              <a:ext uri="{FF2B5EF4-FFF2-40B4-BE49-F238E27FC236}">
                <a16:creationId xmlns:a16="http://schemas.microsoft.com/office/drawing/2014/main" id="{DC8B1D33-FBD1-8729-C582-F55B9EF4A088}"/>
              </a:ext>
            </a:extLst>
          </p:cNvPr>
          <p:cNvSpPr/>
          <p:nvPr/>
        </p:nvSpPr>
        <p:spPr>
          <a:xfrm>
            <a:off x="9204229" y="4016046"/>
            <a:ext cx="22973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[3. </a:t>
            </a:r>
            <a:r>
              <a:rPr lang="ko-KR" altLang="en-US" sz="900" b="1" dirty="0" err="1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미전송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일괄 업로드</a:t>
            </a:r>
            <a:r>
              <a:rPr lang="en-US" altLang="ko-KR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lang="ko-KR" altLang="en-US" sz="900" b="1" dirty="0">
                <a:solidFill>
                  <a:srgbClr val="D9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</a:t>
            </a:r>
            <a:endParaRPr lang="en-US" sz="900" dirty="0"/>
          </a:p>
        </p:txBody>
      </p:sp>
      <p:sp>
        <p:nvSpPr>
          <p:cNvPr id="16" name="Text 31">
            <a:extLst>
              <a:ext uri="{FF2B5EF4-FFF2-40B4-BE49-F238E27FC236}">
                <a16:creationId xmlns:a16="http://schemas.microsoft.com/office/drawing/2014/main" id="{B21333A4-56D4-B0FA-E2B8-58DB8BDBF10D}"/>
              </a:ext>
            </a:extLst>
          </p:cNvPr>
          <p:cNvSpPr/>
          <p:nvPr/>
        </p:nvSpPr>
        <p:spPr>
          <a:xfrm>
            <a:off x="9260114" y="4226097"/>
            <a:ext cx="2394731" cy="56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메인 화면의 업로드 버튼과 동일한 기능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보관함 확인 후 즉시 업로드 할 수 있도록 동선 제공</a:t>
            </a:r>
            <a:r>
              <a:rPr lang="en-US" altLang="ko-KR" sz="9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9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C40BB5-6ED4-B64A-901D-20085F8F16EC}"/>
              </a:ext>
            </a:extLst>
          </p:cNvPr>
          <p:cNvSpPr txBox="1"/>
          <p:nvPr/>
        </p:nvSpPr>
        <p:spPr>
          <a:xfrm>
            <a:off x="1687828" y="6189562"/>
            <a:ext cx="10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orginal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28B4072-7CD7-9BA1-1292-E006316BF7F0}"/>
              </a:ext>
            </a:extLst>
          </p:cNvPr>
          <p:cNvSpPr/>
          <p:nvPr/>
        </p:nvSpPr>
        <p:spPr>
          <a:xfrm>
            <a:off x="7090411" y="2377557"/>
            <a:ext cx="344803" cy="21884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D392534-D57D-33BF-9746-1F8AB8DBADF5}"/>
              </a:ext>
            </a:extLst>
          </p:cNvPr>
          <p:cNvSpPr/>
          <p:nvPr/>
        </p:nvSpPr>
        <p:spPr>
          <a:xfrm>
            <a:off x="5553075" y="2202180"/>
            <a:ext cx="1924050" cy="3427095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994743-585F-AE30-82EB-D36C50320B5D}"/>
              </a:ext>
            </a:extLst>
          </p:cNvPr>
          <p:cNvSpPr/>
          <p:nvPr/>
        </p:nvSpPr>
        <p:spPr>
          <a:xfrm>
            <a:off x="5541872" y="5706231"/>
            <a:ext cx="1924050" cy="32060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27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B255-E1B8-91F2-25BF-63BA93C8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4169D0FB-78CD-3E69-F096-481E157312C7}"/>
              </a:ext>
            </a:extLst>
          </p:cNvPr>
          <p:cNvSpPr/>
          <p:nvPr/>
        </p:nvSpPr>
        <p:spPr>
          <a:xfrm>
            <a:off x="658368" y="1127836"/>
            <a:ext cx="8321040" cy="5421478"/>
          </a:xfrm>
          <a:prstGeom prst="rect">
            <a:avLst/>
          </a:prstGeom>
          <a:solidFill>
            <a:srgbClr val="F7F7F7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30">
            <a:extLst>
              <a:ext uri="{FF2B5EF4-FFF2-40B4-BE49-F238E27FC236}">
                <a16:creationId xmlns:a16="http://schemas.microsoft.com/office/drawing/2014/main" id="{64629FEE-DDEF-8BBC-97B5-C52985218A07}"/>
              </a:ext>
            </a:extLst>
          </p:cNvPr>
          <p:cNvSpPr/>
          <p:nvPr/>
        </p:nvSpPr>
        <p:spPr>
          <a:xfrm>
            <a:off x="9067800" y="1127836"/>
            <a:ext cx="2743200" cy="542147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E26DBAB7-AB5B-47F3-7683-6E262B66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39281"/>
            <a:ext cx="4459641" cy="620839"/>
          </a:xfrm>
        </p:spPr>
        <p:txBody>
          <a:bodyPr anchor="ctr">
            <a:normAutofit/>
          </a:bodyPr>
          <a:lstStyle/>
          <a:p>
            <a:r>
              <a:rPr lang="en-US" altLang="ko-KR" sz="1400" b="1" dirty="0"/>
              <a:t>5. UI </a:t>
            </a:r>
            <a:r>
              <a:rPr lang="ko-KR" altLang="en-US" sz="1400" b="1" dirty="0" err="1"/>
              <a:t>어셋</a:t>
            </a:r>
            <a:r>
              <a:rPr lang="ko-KR" altLang="en-US" sz="1400" b="1" dirty="0"/>
              <a:t> 시트</a:t>
            </a:r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0DC7F5DA-DC7B-9B76-6023-01F256BF3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755056"/>
            <a:ext cx="5301615" cy="326484"/>
          </a:xfrm>
        </p:spPr>
        <p:txBody>
          <a:bodyPr anchor="ctr">
            <a:normAutofit/>
          </a:bodyPr>
          <a:lstStyle/>
          <a:p>
            <a:r>
              <a:rPr lang="ko-KR" altLang="en-US" sz="1000" b="1" dirty="0"/>
              <a:t>활성화와 </a:t>
            </a:r>
            <a:r>
              <a:rPr lang="ko-KR" altLang="en-US" sz="1000" b="1" dirty="0" err="1"/>
              <a:t>비설황화</a:t>
            </a:r>
            <a:r>
              <a:rPr lang="ko-KR" altLang="en-US" sz="1000" b="1" dirty="0"/>
              <a:t> </a:t>
            </a:r>
            <a:r>
              <a:rPr lang="ko-KR" altLang="en-US" sz="1000" b="1" dirty="0" err="1"/>
              <a:t>상태값이</a:t>
            </a:r>
            <a:r>
              <a:rPr lang="ko-KR" altLang="en-US" sz="1000" b="1" dirty="0"/>
              <a:t> 분리 되어 있어요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sp>
        <p:nvSpPr>
          <p:cNvPr id="2" name="Text 28">
            <a:extLst>
              <a:ext uri="{FF2B5EF4-FFF2-40B4-BE49-F238E27FC236}">
                <a16:creationId xmlns:a16="http://schemas.microsoft.com/office/drawing/2014/main" id="{F6C9F02C-4DC1-59FF-719D-B9D194CEC5E6}"/>
              </a:ext>
            </a:extLst>
          </p:cNvPr>
          <p:cNvSpPr/>
          <p:nvPr/>
        </p:nvSpPr>
        <p:spPr>
          <a:xfrm>
            <a:off x="9204228" y="1257299"/>
            <a:ext cx="2606771" cy="3705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Asset</a:t>
            </a: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Download link:</a:t>
            </a:r>
          </a:p>
          <a:p>
            <a:r>
              <a:rPr lang="en-US" altLang="ko-KR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 https://drive.google.com/drive/folders/1TaQ15HfxJT_akwoQE0hdoN7j4JyVjJT3?usp=sharing</a:t>
            </a:r>
            <a:endParaRPr lang="en-US" sz="1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8B29A97-E348-57FD-5F8E-9EE0D94D8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447" y="1243751"/>
            <a:ext cx="5423702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9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E39C3-BB29-E3D4-1F95-E8DA7D74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C201E7FA-3B4B-EC36-02ED-647823749469}"/>
              </a:ext>
            </a:extLst>
          </p:cNvPr>
          <p:cNvSpPr/>
          <p:nvPr/>
        </p:nvSpPr>
        <p:spPr>
          <a:xfrm>
            <a:off x="658368" y="677050"/>
            <a:ext cx="11019282" cy="5590400"/>
          </a:xfrm>
          <a:prstGeom prst="rect">
            <a:avLst/>
          </a:prstGeom>
          <a:solidFill>
            <a:srgbClr val="F7F7F7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0F85C-96C8-5EAE-65D3-E87E3BE63B77}"/>
              </a:ext>
            </a:extLst>
          </p:cNvPr>
          <p:cNvSpPr txBox="1"/>
          <p:nvPr/>
        </p:nvSpPr>
        <p:spPr>
          <a:xfrm>
            <a:off x="658368" y="314325"/>
            <a:ext cx="2543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1. API </a:t>
            </a:r>
            <a:r>
              <a:rPr lang="ko-KR" altLang="en-US" sz="1400" b="1" dirty="0"/>
              <a:t>연동 및 데이터 스펙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3552EB3-CFD9-3074-C902-EC329971A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81730"/>
            <a:ext cx="1305165" cy="40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미정으로 참고만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8C7BC-46CA-A329-8BC5-E8F84070BC3B}"/>
              </a:ext>
            </a:extLst>
          </p:cNvPr>
          <p:cNvSpPr txBox="1"/>
          <p:nvPr/>
        </p:nvSpPr>
        <p:spPr>
          <a:xfrm>
            <a:off x="838200" y="1304776"/>
            <a:ext cx="6115050" cy="2926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전송 방식: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태훈님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세팅 예정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sz="1400" b="1" dirty="0">
                <a:latin typeface="Arial" panose="020B0604020202020204" pitchFamily="34" charset="0"/>
              </a:rPr>
              <a:t> </a:t>
            </a:r>
            <a:r>
              <a:rPr lang="ko-KR" altLang="ko-KR" sz="1400" b="1" dirty="0">
                <a:latin typeface="Arial" panose="020B0604020202020204" pitchFamily="34" charset="0"/>
              </a:rPr>
              <a:t>인증 방식: </a:t>
            </a:r>
            <a:r>
              <a:rPr lang="ko-KR" altLang="ko-KR" sz="1200" dirty="0">
                <a:latin typeface="Arial" panose="020B0604020202020204" pitchFamily="34" charset="0"/>
              </a:rPr>
              <a:t>(양사 협의된 API </a:t>
            </a:r>
            <a:r>
              <a:rPr lang="ko-KR" altLang="ko-KR" sz="1200" dirty="0" err="1">
                <a:latin typeface="Arial" panose="020B0604020202020204" pitchFamily="34" charset="0"/>
              </a:rPr>
              <a:t>Key</a:t>
            </a:r>
            <a:r>
              <a:rPr lang="ko-KR" altLang="ko-KR" sz="1200" dirty="0">
                <a:latin typeface="Arial" panose="020B0604020202020204" pitchFamily="34" charset="0"/>
              </a:rPr>
              <a:t> 사용)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sz="1400" b="1" dirty="0">
                <a:latin typeface="Arial" panose="020B0604020202020204" pitchFamily="34" charset="0"/>
              </a:rPr>
              <a:t> </a:t>
            </a:r>
            <a:r>
              <a:rPr lang="ko-KR" altLang="ko-KR" sz="1400" b="1" dirty="0">
                <a:latin typeface="Arial" panose="020B0604020202020204" pitchFamily="34" charset="0"/>
              </a:rPr>
              <a:t>전송 페이로드: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image_file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원본 이미지 파일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Binary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metadata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JSON 데이터 (아래 필수 값 포함)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record_id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고유 식별자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worker_id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작업자/디바이스 ID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timestamp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촬영 일시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ground_truth.measured_value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사용자가 입력한 측정값 (예: 25.85)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device_info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OS 및 앱 버전 정보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604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4186</TotalTime>
  <Words>1022</Words>
  <Application>Microsoft Office PowerPoint</Application>
  <PresentationFormat>와이드스크린</PresentationFormat>
  <Paragraphs>121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 Unicode MS</vt:lpstr>
      <vt:lpstr>Malgun Gothic</vt:lpstr>
      <vt:lpstr>Malgun Gothic</vt:lpstr>
      <vt:lpstr>Arial</vt:lpstr>
      <vt:lpstr>Office 테마</vt:lpstr>
      <vt:lpstr>AI 데이터 수집용 촬영 앱</vt:lpstr>
      <vt:lpstr>요구 사항 정의서</vt:lpstr>
      <vt:lpstr>PowerPoint 프레젠테이션</vt:lpstr>
      <vt:lpstr>화면 설계서</vt:lpstr>
      <vt:lpstr>1. 홈/메인 화면</vt:lpstr>
      <vt:lpstr>2. 카메라 촬영 화면</vt:lpstr>
      <vt:lpstr>3. 데이터 입력 및 검수 화면</vt:lpstr>
      <vt:lpstr>4. 사진 보관함(로컬 보관함)</vt:lpstr>
      <vt:lpstr>5. UI 어셋 시트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배한익 배한익</dc:creator>
  <cp:lastModifiedBy>배한익 배한익</cp:lastModifiedBy>
  <cp:revision>3</cp:revision>
  <dcterms:created xsi:type="dcterms:W3CDTF">2026-03-13T07:01:29Z</dcterms:created>
  <dcterms:modified xsi:type="dcterms:W3CDTF">2026-03-16T06:37:46Z</dcterms:modified>
</cp:coreProperties>
</file>